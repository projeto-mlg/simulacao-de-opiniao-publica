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6" r:id="rId10"/>
    <p:sldId id="267" r:id="rId11"/>
  </p:sldIdLst>
  <p:sldSz cx="9144000" cy="6858000" type="screen4x3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A02B"/>
    <a:srgbClr val="FF7F0F"/>
    <a:srgbClr val="FF8C27"/>
    <a:srgbClr val="66BB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Estilo com Tema 2 - Ênfas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Estilo Escuro 1 - Ênfas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Estilo com Tema 2 - Ênfas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88"/>
  </p:normalViewPr>
  <p:slideViewPr>
    <p:cSldViewPr snapToGrid="0" snapToObjects="1">
      <p:cViewPr varScale="1">
        <p:scale>
          <a:sx n="124" d="100"/>
          <a:sy n="124" d="100"/>
        </p:scale>
        <p:origin x="12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Planilha1!$A$19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FF7F0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Planilha1!$B$18:$E$18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Planilha1!$B$19:$E$19</c:f>
              <c:numCache>
                <c:formatCode>0%</c:formatCode>
                <c:ptCount val="4"/>
                <c:pt idx="0">
                  <c:v>0.39</c:v>
                </c:pt>
                <c:pt idx="1">
                  <c:v>0.28999999999999998</c:v>
                </c:pt>
                <c:pt idx="2">
                  <c:v>0.39</c:v>
                </c:pt>
                <c:pt idx="3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0D-4545-BDB3-847F13F0B249}"/>
            </c:ext>
          </c:extLst>
        </c:ser>
        <c:ser>
          <c:idx val="1"/>
          <c:order val="1"/>
          <c:tx>
            <c:strRef>
              <c:f>Planilha1!$A$20</c:f>
              <c:strCache>
                <c:ptCount val="1"/>
                <c:pt idx="0">
                  <c:v>LLM</c:v>
                </c:pt>
              </c:strCache>
            </c:strRef>
          </c:tx>
          <c:spPr>
            <a:solidFill>
              <a:srgbClr val="2AA02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Planilha1!$B$18:$E$18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Planilha1!$B$20:$E$20</c:f>
              <c:numCache>
                <c:formatCode>0%</c:formatCode>
                <c:ptCount val="4"/>
                <c:pt idx="0">
                  <c:v>0.28000000000000003</c:v>
                </c:pt>
                <c:pt idx="1">
                  <c:v>0.3</c:v>
                </c:pt>
                <c:pt idx="2">
                  <c:v>0.28000000000000003</c:v>
                </c:pt>
                <c:pt idx="3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0D-4545-BDB3-847F13F0B24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28133183"/>
        <c:axId val="128128255"/>
      </c:barChart>
      <c:catAx>
        <c:axId val="128133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28128255"/>
        <c:crosses val="autoZero"/>
        <c:auto val="1"/>
        <c:lblAlgn val="ctr"/>
        <c:lblOffset val="100"/>
        <c:noMultiLvlLbl val="0"/>
      </c:catAx>
      <c:valAx>
        <c:axId val="1281282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28133183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77046093450353093"/>
          <c:y val="1.3858267716535427E-2"/>
          <c:w val="0.22125563101173959"/>
          <c:h val="5.66115309411826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8F8EC5-877A-4E29-9A86-4A12CC74A022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C0FFDCE-12FA-46E5-862A-C2C7D7FEA502}">
      <dgm:prSet/>
      <dgm:spPr/>
      <dgm:t>
        <a:bodyPr/>
        <a:lstStyle/>
        <a:p>
          <a:r>
            <a:rPr lang="pt-BR"/>
            <a:t>Random Forest: Vence no acerto (Otimizador de acertos).</a:t>
          </a:r>
          <a:endParaRPr lang="en-US"/>
        </a:p>
      </dgm:t>
    </dgm:pt>
    <dgm:pt modelId="{86DF1C7C-F197-4254-92E8-44F3AE85731B}" type="parTrans" cxnId="{2502CA62-BDBC-4172-B70B-F40236ECF95E}">
      <dgm:prSet/>
      <dgm:spPr/>
      <dgm:t>
        <a:bodyPr/>
        <a:lstStyle/>
        <a:p>
          <a:endParaRPr lang="en-US"/>
        </a:p>
      </dgm:t>
    </dgm:pt>
    <dgm:pt modelId="{EA8B4E82-7D5D-4DA3-B1FC-12AF026D2CDF}" type="sibTrans" cxnId="{2502CA62-BDBC-4172-B70B-F40236ECF95E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DE5419FC-3E28-4EC6-8B77-82DB6D5902BA}">
      <dgm:prSet/>
      <dgm:spPr/>
      <dgm:t>
        <a:bodyPr/>
        <a:lstStyle/>
        <a:p>
          <a:r>
            <a:rPr lang="pt-BR"/>
            <a:t>LM: Vence na forma geral (Emulador de identidades e clima social).</a:t>
          </a:r>
          <a:endParaRPr lang="en-US"/>
        </a:p>
      </dgm:t>
    </dgm:pt>
    <dgm:pt modelId="{A5018B0C-DD85-4150-ADD8-156BFF77C1F0}" type="parTrans" cxnId="{C75060BE-00C7-4B1D-97B6-78F6BFEC4BF1}">
      <dgm:prSet/>
      <dgm:spPr/>
      <dgm:t>
        <a:bodyPr/>
        <a:lstStyle/>
        <a:p>
          <a:endParaRPr lang="en-US"/>
        </a:p>
      </dgm:t>
    </dgm:pt>
    <dgm:pt modelId="{1DBEFA3E-E7B3-4F2E-8419-4AC37F39D094}" type="sibTrans" cxnId="{C75060BE-00C7-4B1D-97B6-78F6BFEC4BF1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19DC6EED-06C7-46DE-BE2E-E479B2810C68}">
      <dgm:prSet/>
      <dgm:spPr/>
      <dgm:t>
        <a:bodyPr/>
        <a:lstStyle/>
        <a:p>
          <a:r>
            <a:rPr lang="pt-BR"/>
            <a:t>Metodologias complementares que podem ser usadas em conjunto para potencializar os resultados</a:t>
          </a:r>
          <a:endParaRPr lang="en-US"/>
        </a:p>
      </dgm:t>
    </dgm:pt>
    <dgm:pt modelId="{1057E5D1-97DB-485D-8870-331D7BB960F6}" type="parTrans" cxnId="{69951D84-ADD7-4CEC-88F5-6C6548653A9E}">
      <dgm:prSet/>
      <dgm:spPr/>
      <dgm:t>
        <a:bodyPr/>
        <a:lstStyle/>
        <a:p>
          <a:endParaRPr lang="en-US"/>
        </a:p>
      </dgm:t>
    </dgm:pt>
    <dgm:pt modelId="{F1A36A4C-9A55-4761-ACD2-4489339D769F}" type="sibTrans" cxnId="{69951D84-ADD7-4CEC-88F5-6C6548653A9E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8082097B-E3E6-2644-A5F6-444E91679072}" type="pres">
      <dgm:prSet presAssocID="{EF8F8EC5-877A-4E29-9A86-4A12CC74A022}" presName="Name0" presStyleCnt="0">
        <dgm:presLayoutVars>
          <dgm:animLvl val="lvl"/>
          <dgm:resizeHandles val="exact"/>
        </dgm:presLayoutVars>
      </dgm:prSet>
      <dgm:spPr/>
    </dgm:pt>
    <dgm:pt modelId="{65A2E342-DA01-B449-8C6A-D37F19F5A884}" type="pres">
      <dgm:prSet presAssocID="{4C0FFDCE-12FA-46E5-862A-C2C7D7FEA502}" presName="compositeNode" presStyleCnt="0">
        <dgm:presLayoutVars>
          <dgm:bulletEnabled val="1"/>
        </dgm:presLayoutVars>
      </dgm:prSet>
      <dgm:spPr/>
    </dgm:pt>
    <dgm:pt modelId="{A1F4BED9-CB33-384E-8F8B-9B35C004279A}" type="pres">
      <dgm:prSet presAssocID="{4C0FFDCE-12FA-46E5-862A-C2C7D7FEA502}" presName="bgRect" presStyleLbl="alignNode1" presStyleIdx="0" presStyleCnt="3"/>
      <dgm:spPr/>
    </dgm:pt>
    <dgm:pt modelId="{FED0E7F2-D998-2846-B4BE-E6A5D049B5BD}" type="pres">
      <dgm:prSet presAssocID="{EA8B4E82-7D5D-4DA3-B1FC-12AF026D2CDF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BCB28541-249C-5841-B2FE-8753A8C955ED}" type="pres">
      <dgm:prSet presAssocID="{4C0FFDCE-12FA-46E5-862A-C2C7D7FEA502}" presName="nodeRect" presStyleLbl="alignNode1" presStyleIdx="0" presStyleCnt="3">
        <dgm:presLayoutVars>
          <dgm:bulletEnabled val="1"/>
        </dgm:presLayoutVars>
      </dgm:prSet>
      <dgm:spPr/>
    </dgm:pt>
    <dgm:pt modelId="{2697D51E-E0DF-814B-BA0D-E5CBD8D91E0E}" type="pres">
      <dgm:prSet presAssocID="{EA8B4E82-7D5D-4DA3-B1FC-12AF026D2CDF}" presName="sibTrans" presStyleCnt="0"/>
      <dgm:spPr/>
    </dgm:pt>
    <dgm:pt modelId="{C4E9EA28-8818-1B44-A124-356D66FA608D}" type="pres">
      <dgm:prSet presAssocID="{DE5419FC-3E28-4EC6-8B77-82DB6D5902BA}" presName="compositeNode" presStyleCnt="0">
        <dgm:presLayoutVars>
          <dgm:bulletEnabled val="1"/>
        </dgm:presLayoutVars>
      </dgm:prSet>
      <dgm:spPr/>
    </dgm:pt>
    <dgm:pt modelId="{FA789572-2701-4047-A597-5A16FB8D17BF}" type="pres">
      <dgm:prSet presAssocID="{DE5419FC-3E28-4EC6-8B77-82DB6D5902BA}" presName="bgRect" presStyleLbl="alignNode1" presStyleIdx="1" presStyleCnt="3"/>
      <dgm:spPr/>
    </dgm:pt>
    <dgm:pt modelId="{B0807CB3-604A-674D-927A-6F6E313B5443}" type="pres">
      <dgm:prSet presAssocID="{1DBEFA3E-E7B3-4F2E-8419-4AC37F39D094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196E2AAE-0368-FC41-AB6A-2FFE6570552D}" type="pres">
      <dgm:prSet presAssocID="{DE5419FC-3E28-4EC6-8B77-82DB6D5902BA}" presName="nodeRect" presStyleLbl="alignNode1" presStyleIdx="1" presStyleCnt="3">
        <dgm:presLayoutVars>
          <dgm:bulletEnabled val="1"/>
        </dgm:presLayoutVars>
      </dgm:prSet>
      <dgm:spPr/>
    </dgm:pt>
    <dgm:pt modelId="{FE2204FA-E99D-3D4B-BEBC-1C2B99A86DA9}" type="pres">
      <dgm:prSet presAssocID="{1DBEFA3E-E7B3-4F2E-8419-4AC37F39D094}" presName="sibTrans" presStyleCnt="0"/>
      <dgm:spPr/>
    </dgm:pt>
    <dgm:pt modelId="{9ADE54F7-9CA9-1448-9B99-4EC9960E822A}" type="pres">
      <dgm:prSet presAssocID="{19DC6EED-06C7-46DE-BE2E-E479B2810C68}" presName="compositeNode" presStyleCnt="0">
        <dgm:presLayoutVars>
          <dgm:bulletEnabled val="1"/>
        </dgm:presLayoutVars>
      </dgm:prSet>
      <dgm:spPr/>
    </dgm:pt>
    <dgm:pt modelId="{F00112EB-2352-2C4B-A590-81E2575518C8}" type="pres">
      <dgm:prSet presAssocID="{19DC6EED-06C7-46DE-BE2E-E479B2810C68}" presName="bgRect" presStyleLbl="alignNode1" presStyleIdx="2" presStyleCnt="3"/>
      <dgm:spPr/>
    </dgm:pt>
    <dgm:pt modelId="{C45D31D2-FE44-DA44-AD65-E6E636082837}" type="pres">
      <dgm:prSet presAssocID="{F1A36A4C-9A55-4761-ACD2-4489339D769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ED056D10-9EBE-074A-9CF1-22DD9CDA24A0}" type="pres">
      <dgm:prSet presAssocID="{19DC6EED-06C7-46DE-BE2E-E479B2810C68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0920A60F-2D27-5246-A31B-DC3222773259}" type="presOf" srcId="{EF8F8EC5-877A-4E29-9A86-4A12CC74A022}" destId="{8082097B-E3E6-2644-A5F6-444E91679072}" srcOrd="0" destOrd="0" presId="urn:microsoft.com/office/officeart/2016/7/layout/LinearBlockProcessNumbered"/>
    <dgm:cxn modelId="{55B78633-F05B-834C-A02E-3BEAAE042AC6}" type="presOf" srcId="{1DBEFA3E-E7B3-4F2E-8419-4AC37F39D094}" destId="{B0807CB3-604A-674D-927A-6F6E313B5443}" srcOrd="0" destOrd="0" presId="urn:microsoft.com/office/officeart/2016/7/layout/LinearBlockProcessNumbered"/>
    <dgm:cxn modelId="{2EAC6842-4A29-814E-B62B-2AA1DE319FE7}" type="presOf" srcId="{4C0FFDCE-12FA-46E5-862A-C2C7D7FEA502}" destId="{A1F4BED9-CB33-384E-8F8B-9B35C004279A}" srcOrd="0" destOrd="0" presId="urn:microsoft.com/office/officeart/2016/7/layout/LinearBlockProcessNumbered"/>
    <dgm:cxn modelId="{EE02A755-B10F-3D47-BBCC-B2518A7B76AA}" type="presOf" srcId="{F1A36A4C-9A55-4761-ACD2-4489339D769F}" destId="{C45D31D2-FE44-DA44-AD65-E6E636082837}" srcOrd="0" destOrd="0" presId="urn:microsoft.com/office/officeart/2016/7/layout/LinearBlockProcessNumbered"/>
    <dgm:cxn modelId="{2502CA62-BDBC-4172-B70B-F40236ECF95E}" srcId="{EF8F8EC5-877A-4E29-9A86-4A12CC74A022}" destId="{4C0FFDCE-12FA-46E5-862A-C2C7D7FEA502}" srcOrd="0" destOrd="0" parTransId="{86DF1C7C-F197-4254-92E8-44F3AE85731B}" sibTransId="{EA8B4E82-7D5D-4DA3-B1FC-12AF026D2CDF}"/>
    <dgm:cxn modelId="{4623236F-BB93-F34C-BAA5-2AA127D0DD97}" type="presOf" srcId="{4C0FFDCE-12FA-46E5-862A-C2C7D7FEA502}" destId="{BCB28541-249C-5841-B2FE-8753A8C955ED}" srcOrd="1" destOrd="0" presId="urn:microsoft.com/office/officeart/2016/7/layout/LinearBlockProcessNumbered"/>
    <dgm:cxn modelId="{69951D84-ADD7-4CEC-88F5-6C6548653A9E}" srcId="{EF8F8EC5-877A-4E29-9A86-4A12CC74A022}" destId="{19DC6EED-06C7-46DE-BE2E-E479B2810C68}" srcOrd="2" destOrd="0" parTransId="{1057E5D1-97DB-485D-8870-331D7BB960F6}" sibTransId="{F1A36A4C-9A55-4761-ACD2-4489339D769F}"/>
    <dgm:cxn modelId="{F7BD15BE-94BB-AE4E-BDE5-64877301E689}" type="presOf" srcId="{DE5419FC-3E28-4EC6-8B77-82DB6D5902BA}" destId="{196E2AAE-0368-FC41-AB6A-2FFE6570552D}" srcOrd="1" destOrd="0" presId="urn:microsoft.com/office/officeart/2016/7/layout/LinearBlockProcessNumbered"/>
    <dgm:cxn modelId="{C75060BE-00C7-4B1D-97B6-78F6BFEC4BF1}" srcId="{EF8F8EC5-877A-4E29-9A86-4A12CC74A022}" destId="{DE5419FC-3E28-4EC6-8B77-82DB6D5902BA}" srcOrd="1" destOrd="0" parTransId="{A5018B0C-DD85-4150-ADD8-156BFF77C1F0}" sibTransId="{1DBEFA3E-E7B3-4F2E-8419-4AC37F39D094}"/>
    <dgm:cxn modelId="{11C166C4-4128-CD44-A2B5-C3901C052C9B}" type="presOf" srcId="{EA8B4E82-7D5D-4DA3-B1FC-12AF026D2CDF}" destId="{FED0E7F2-D998-2846-B4BE-E6A5D049B5BD}" srcOrd="0" destOrd="0" presId="urn:microsoft.com/office/officeart/2016/7/layout/LinearBlockProcessNumbered"/>
    <dgm:cxn modelId="{7F3ACCEB-54E0-0B4E-A8C4-EBED7767F4BF}" type="presOf" srcId="{19DC6EED-06C7-46DE-BE2E-E479B2810C68}" destId="{ED056D10-9EBE-074A-9CF1-22DD9CDA24A0}" srcOrd="1" destOrd="0" presId="urn:microsoft.com/office/officeart/2016/7/layout/LinearBlockProcessNumbered"/>
    <dgm:cxn modelId="{DC9D2FEE-6E7A-8840-A6A3-6E6B762AEC54}" type="presOf" srcId="{DE5419FC-3E28-4EC6-8B77-82DB6D5902BA}" destId="{FA789572-2701-4047-A597-5A16FB8D17BF}" srcOrd="0" destOrd="0" presId="urn:microsoft.com/office/officeart/2016/7/layout/LinearBlockProcessNumbered"/>
    <dgm:cxn modelId="{CF0294EF-ED9E-374D-A7B2-B50C5231DE63}" type="presOf" srcId="{19DC6EED-06C7-46DE-BE2E-E479B2810C68}" destId="{F00112EB-2352-2C4B-A590-81E2575518C8}" srcOrd="0" destOrd="0" presId="urn:microsoft.com/office/officeart/2016/7/layout/LinearBlockProcessNumbered"/>
    <dgm:cxn modelId="{68B4A227-7674-5C4C-9AA6-49204CD83044}" type="presParOf" srcId="{8082097B-E3E6-2644-A5F6-444E91679072}" destId="{65A2E342-DA01-B449-8C6A-D37F19F5A884}" srcOrd="0" destOrd="0" presId="urn:microsoft.com/office/officeart/2016/7/layout/LinearBlockProcessNumbered"/>
    <dgm:cxn modelId="{50355DBC-6D43-4844-A962-C775ED21B82E}" type="presParOf" srcId="{65A2E342-DA01-B449-8C6A-D37F19F5A884}" destId="{A1F4BED9-CB33-384E-8F8B-9B35C004279A}" srcOrd="0" destOrd="0" presId="urn:microsoft.com/office/officeart/2016/7/layout/LinearBlockProcessNumbered"/>
    <dgm:cxn modelId="{852CAED6-80E4-E34D-A506-7E95F46219E5}" type="presParOf" srcId="{65A2E342-DA01-B449-8C6A-D37F19F5A884}" destId="{FED0E7F2-D998-2846-B4BE-E6A5D049B5BD}" srcOrd="1" destOrd="0" presId="urn:microsoft.com/office/officeart/2016/7/layout/LinearBlockProcessNumbered"/>
    <dgm:cxn modelId="{7534328C-6BDF-7842-BF07-3C62CB4839A9}" type="presParOf" srcId="{65A2E342-DA01-B449-8C6A-D37F19F5A884}" destId="{BCB28541-249C-5841-B2FE-8753A8C955ED}" srcOrd="2" destOrd="0" presId="urn:microsoft.com/office/officeart/2016/7/layout/LinearBlockProcessNumbered"/>
    <dgm:cxn modelId="{305335DD-CEA5-F448-B4F4-F6923CA96AFA}" type="presParOf" srcId="{8082097B-E3E6-2644-A5F6-444E91679072}" destId="{2697D51E-E0DF-814B-BA0D-E5CBD8D91E0E}" srcOrd="1" destOrd="0" presId="urn:microsoft.com/office/officeart/2016/7/layout/LinearBlockProcessNumbered"/>
    <dgm:cxn modelId="{22DC78CB-4BA2-C84E-A79C-3CD47C7DCBC6}" type="presParOf" srcId="{8082097B-E3E6-2644-A5F6-444E91679072}" destId="{C4E9EA28-8818-1B44-A124-356D66FA608D}" srcOrd="2" destOrd="0" presId="urn:microsoft.com/office/officeart/2016/7/layout/LinearBlockProcessNumbered"/>
    <dgm:cxn modelId="{F836883D-CFFA-9042-8B82-EE63793135D0}" type="presParOf" srcId="{C4E9EA28-8818-1B44-A124-356D66FA608D}" destId="{FA789572-2701-4047-A597-5A16FB8D17BF}" srcOrd="0" destOrd="0" presId="urn:microsoft.com/office/officeart/2016/7/layout/LinearBlockProcessNumbered"/>
    <dgm:cxn modelId="{139F15C5-7671-C44D-936E-4EC155C65DF7}" type="presParOf" srcId="{C4E9EA28-8818-1B44-A124-356D66FA608D}" destId="{B0807CB3-604A-674D-927A-6F6E313B5443}" srcOrd="1" destOrd="0" presId="urn:microsoft.com/office/officeart/2016/7/layout/LinearBlockProcessNumbered"/>
    <dgm:cxn modelId="{649E317D-9AF9-2045-8B7D-D1BF5B187C43}" type="presParOf" srcId="{C4E9EA28-8818-1B44-A124-356D66FA608D}" destId="{196E2AAE-0368-FC41-AB6A-2FFE6570552D}" srcOrd="2" destOrd="0" presId="urn:microsoft.com/office/officeart/2016/7/layout/LinearBlockProcessNumbered"/>
    <dgm:cxn modelId="{D77EC7D3-F096-2C4C-BF03-39DAE22FD7CF}" type="presParOf" srcId="{8082097B-E3E6-2644-A5F6-444E91679072}" destId="{FE2204FA-E99D-3D4B-BEBC-1C2B99A86DA9}" srcOrd="3" destOrd="0" presId="urn:microsoft.com/office/officeart/2016/7/layout/LinearBlockProcessNumbered"/>
    <dgm:cxn modelId="{C3D93A2A-EB6F-0045-A012-AD089CD3AFBF}" type="presParOf" srcId="{8082097B-E3E6-2644-A5F6-444E91679072}" destId="{9ADE54F7-9CA9-1448-9B99-4EC9960E822A}" srcOrd="4" destOrd="0" presId="urn:microsoft.com/office/officeart/2016/7/layout/LinearBlockProcessNumbered"/>
    <dgm:cxn modelId="{61235E92-0924-AC42-BF3E-D44C05CB38EF}" type="presParOf" srcId="{9ADE54F7-9CA9-1448-9B99-4EC9960E822A}" destId="{F00112EB-2352-2C4B-A590-81E2575518C8}" srcOrd="0" destOrd="0" presId="urn:microsoft.com/office/officeart/2016/7/layout/LinearBlockProcessNumbered"/>
    <dgm:cxn modelId="{A3F48858-6143-504D-B8EE-817E2F9F5D50}" type="presParOf" srcId="{9ADE54F7-9CA9-1448-9B99-4EC9960E822A}" destId="{C45D31D2-FE44-DA44-AD65-E6E636082837}" srcOrd="1" destOrd="0" presId="urn:microsoft.com/office/officeart/2016/7/layout/LinearBlockProcessNumbered"/>
    <dgm:cxn modelId="{E5DD9DC2-FF92-344F-84E2-1EDD2D4542D6}" type="presParOf" srcId="{9ADE54F7-9CA9-1448-9B99-4EC9960E822A}" destId="{ED056D10-9EBE-074A-9CF1-22DD9CDA24A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F4BED9-CB33-384E-8F8B-9B35C004279A}">
      <dsp:nvSpPr>
        <dsp:cNvPr id="0" name=""/>
        <dsp:cNvSpPr/>
      </dsp:nvSpPr>
      <dsp:spPr>
        <a:xfrm>
          <a:off x="640" y="540467"/>
          <a:ext cx="2593224" cy="31118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0" rIns="25615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Random Forest: Vence no acerto (Otimizador de acertos).</a:t>
          </a:r>
          <a:endParaRPr lang="en-US" sz="1800" kern="1200"/>
        </a:p>
      </dsp:txBody>
      <dsp:txXfrm>
        <a:off x="640" y="1785215"/>
        <a:ext cx="2593224" cy="1867121"/>
      </dsp:txXfrm>
    </dsp:sp>
    <dsp:sp modelId="{FED0E7F2-D998-2846-B4BE-E6A5D049B5BD}">
      <dsp:nvSpPr>
        <dsp:cNvPr id="0" name=""/>
        <dsp:cNvSpPr/>
      </dsp:nvSpPr>
      <dsp:spPr>
        <a:xfrm>
          <a:off x="640" y="540467"/>
          <a:ext cx="2593224" cy="124474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165100" rIns="256153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01</a:t>
          </a:r>
        </a:p>
      </dsp:txBody>
      <dsp:txXfrm>
        <a:off x="640" y="540467"/>
        <a:ext cx="2593224" cy="1244747"/>
      </dsp:txXfrm>
    </dsp:sp>
    <dsp:sp modelId="{FA789572-2701-4047-A597-5A16FB8D17BF}">
      <dsp:nvSpPr>
        <dsp:cNvPr id="0" name=""/>
        <dsp:cNvSpPr/>
      </dsp:nvSpPr>
      <dsp:spPr>
        <a:xfrm>
          <a:off x="2801323" y="540467"/>
          <a:ext cx="2593224" cy="311186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0" rIns="25615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LM: Vence na forma geral (Emulador de identidades e clima social).</a:t>
          </a:r>
          <a:endParaRPr lang="en-US" sz="1800" kern="1200"/>
        </a:p>
      </dsp:txBody>
      <dsp:txXfrm>
        <a:off x="2801323" y="1785215"/>
        <a:ext cx="2593224" cy="1867121"/>
      </dsp:txXfrm>
    </dsp:sp>
    <dsp:sp modelId="{B0807CB3-604A-674D-927A-6F6E313B5443}">
      <dsp:nvSpPr>
        <dsp:cNvPr id="0" name=""/>
        <dsp:cNvSpPr/>
      </dsp:nvSpPr>
      <dsp:spPr>
        <a:xfrm>
          <a:off x="2801323" y="540467"/>
          <a:ext cx="2593224" cy="124474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165100" rIns="256153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02</a:t>
          </a:r>
        </a:p>
      </dsp:txBody>
      <dsp:txXfrm>
        <a:off x="2801323" y="540467"/>
        <a:ext cx="2593224" cy="1244747"/>
      </dsp:txXfrm>
    </dsp:sp>
    <dsp:sp modelId="{F00112EB-2352-2C4B-A590-81E2575518C8}">
      <dsp:nvSpPr>
        <dsp:cNvPr id="0" name=""/>
        <dsp:cNvSpPr/>
      </dsp:nvSpPr>
      <dsp:spPr>
        <a:xfrm>
          <a:off x="5602005" y="540467"/>
          <a:ext cx="2593224" cy="311186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0" rIns="256153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/>
            <a:t>Metodologias complementares que podem ser usadas em conjunto para potencializar os resultados</a:t>
          </a:r>
          <a:endParaRPr lang="en-US" sz="1800" kern="1200"/>
        </a:p>
      </dsp:txBody>
      <dsp:txXfrm>
        <a:off x="5602005" y="1785215"/>
        <a:ext cx="2593224" cy="1867121"/>
      </dsp:txXfrm>
    </dsp:sp>
    <dsp:sp modelId="{C45D31D2-FE44-DA44-AD65-E6E636082837}">
      <dsp:nvSpPr>
        <dsp:cNvPr id="0" name=""/>
        <dsp:cNvSpPr/>
      </dsp:nvSpPr>
      <dsp:spPr>
        <a:xfrm>
          <a:off x="5602005" y="540467"/>
          <a:ext cx="2593224" cy="124474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153" tIns="165100" rIns="256153" bIns="16510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03</a:t>
          </a:r>
        </a:p>
      </dsp:txBody>
      <dsp:txXfrm>
        <a:off x="5602005" y="540467"/>
        <a:ext cx="2593224" cy="12447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394D5B-81F9-F14A-AD89-6DDC7CA42209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4D0EDC-323D-A044-909E-90F6FAF61B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700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Testamos diversos algoritmos, incluindo Redes Neurais e </a:t>
            </a:r>
            <a:r>
              <a:rPr lang="pt-B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</a:t>
            </a:r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Boosting</a:t>
            </a:r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No entanto, foi o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Forest </a:t>
            </a:r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 apresentou a melhor performance, com uma acurácia média de 39,8%. Isso demonstra que, para dados tabulares complexos de opinião, modelos baseados em árvores ainda são extremamente robustos.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D0EDC-323D-A044-909E-90F6FAF61BE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5671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Nós criamos essa tabela que demonstra um pequeno comparativo com as principais diferenças entre o Modelo Supervisionado e o LLM - ChatGPT.</a:t>
            </a:r>
          </a:p>
          <a:p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Enquanto o Random Forest busca correlações matemáticas frias em variáveis rígidas, o LLM, no nosso caso o ChatGPT 5.3, constrói uma identidade narrativa. Ele não apenas processa números; ele 'atua' como o personagem descrito no perfil sociodemográfico que fornecemos.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D0EDC-323D-A044-909E-90F6FAF61BE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2987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gráfico abaixo vemos que o modelo supervisionado foi muito superior em acurácia, recall e F1-score</a:t>
            </a:r>
          </a:p>
          <a:p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 importante destacar que, para acertar exatamente o que o indivíduo respondeu, o modelo supervisionado tende a ser superior pela sua natureza de otimização matemática. Contudo, a força do LLM reside na capacidade de capturar a distribuição coletiva das opiniões.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D0EDC-323D-A044-909E-90F6FAF61BE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4668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Nossos resultados mostram que as distâncias de Jensen-Shannon entre as respostas reais e as simuladas são muito próximas: 0.2831 para o Random Forest e 0.2796 para o LLM. Isso indica que o LLM conseguiu captar a 'forma' da opinião pública de maneira quase idêntica ao modelo estatístico clássico.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D0EDC-323D-A044-909E-90F6FAF61BE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583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concluir, observamos que o Random Forest ancora suas decisões em atributos de alto impacto, como educação e região. Já o LLM oferece uma versatilidade única para simular cenários hipotéticos onde não temos dados históricos. Ambos são ferramentas complementares e poderosas para a ciência social computacional moderna.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D0EDC-323D-A044-909E-90F6FAF61BE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58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Muito Obrigada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4D0EDC-323D-A044-909E-90F6FAF61BE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7667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Simulação</a:t>
            </a: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Opinião</a:t>
            </a: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Pública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25BDCF8-232C-3502-C521-03A480672C34}"/>
              </a:ext>
            </a:extLst>
          </p:cNvPr>
          <p:cNvSpPr txBox="1"/>
          <p:nvPr/>
        </p:nvSpPr>
        <p:spPr>
          <a:xfrm>
            <a:off x="1013011" y="4870824"/>
            <a:ext cx="7504463" cy="1458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Simulação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Opinião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Pública 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sobre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dirty="0" err="1"/>
              <a:t>D</a:t>
            </a: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esigualdade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Social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Objetivo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87A7E7D-16BC-195E-8A62-11106DFA8E12}"/>
              </a:ext>
            </a:extLst>
          </p:cNvPr>
          <p:cNvSpPr txBox="1">
            <a:spLocks/>
          </p:cNvSpPr>
          <p:nvPr/>
        </p:nvSpPr>
        <p:spPr>
          <a:xfrm>
            <a:off x="1148694" y="2184175"/>
            <a:ext cx="7293023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700" dirty="0"/>
          </a:p>
          <a:p>
            <a:r>
              <a:rPr lang="pt-BR" sz="2400" dirty="0"/>
              <a:t>Simular respostas de Opinião Pública</a:t>
            </a:r>
          </a:p>
          <a:p>
            <a:endParaRPr lang="pt-BR" sz="2400" dirty="0"/>
          </a:p>
          <a:p>
            <a:r>
              <a:rPr lang="pt-BR" sz="2400" dirty="0"/>
              <a:t>Comparar duas abordagens</a:t>
            </a:r>
            <a:endParaRPr lang="pt-BR" sz="2400" dirty="0">
              <a:solidFill>
                <a:srgbClr val="FF0000"/>
              </a:solidFill>
            </a:endParaRPr>
          </a:p>
          <a:p>
            <a:endParaRPr lang="pt-BR" sz="2400" dirty="0"/>
          </a:p>
          <a:p>
            <a:r>
              <a:rPr lang="pt-BR" sz="2400" dirty="0"/>
              <a:t>Modelo Supervisionado</a:t>
            </a:r>
          </a:p>
          <a:p>
            <a:endParaRPr lang="pt-BR" sz="2400" dirty="0"/>
          </a:p>
          <a:p>
            <a:r>
              <a:rPr lang="pt-BR" sz="2400" dirty="0"/>
              <a:t>Modelo de Linguagem (LLM)</a:t>
            </a:r>
          </a:p>
          <a:p>
            <a:endParaRPr lang="pt-BR" sz="1700" dirty="0">
              <a:solidFill>
                <a:srgbClr val="FF0000"/>
              </a:solidFill>
            </a:endParaRPr>
          </a:p>
          <a:p>
            <a:endParaRPr lang="pt-BR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Base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endParaRPr lang="pt-BR" sz="1700" dirty="0"/>
          </a:p>
          <a:p>
            <a:r>
              <a:rPr lang="pt-BR" sz="2400" dirty="0"/>
              <a:t>Percepção dos brasileiros em relação a temas sobre desigualdade social - CESOP </a:t>
            </a:r>
          </a:p>
          <a:p>
            <a:endParaRPr lang="pt-BR" sz="2400" dirty="0"/>
          </a:p>
          <a:p>
            <a:r>
              <a:rPr lang="pt-BR" sz="2400" dirty="0"/>
              <a:t>2000 respondentes e 50 variáveis</a:t>
            </a:r>
            <a:endParaRPr lang="pt-BR" sz="2400" dirty="0">
              <a:solidFill>
                <a:srgbClr val="FF0000"/>
              </a:solidFill>
            </a:endParaRPr>
          </a:p>
          <a:p>
            <a:endParaRPr lang="pt-BR" sz="2400" dirty="0"/>
          </a:p>
          <a:p>
            <a:r>
              <a:rPr lang="pt-BR" sz="2400" dirty="0"/>
              <a:t>Questão alvo – Pergunta 5</a:t>
            </a:r>
            <a:endParaRPr lang="pt-BR" sz="2400" dirty="0">
              <a:solidFill>
                <a:srgbClr val="FF0000"/>
              </a:solidFill>
            </a:endParaRPr>
          </a:p>
          <a:p>
            <a:endParaRPr lang="pt-BR" sz="1700" dirty="0">
              <a:solidFill>
                <a:srgbClr val="FF0000"/>
              </a:solidFill>
            </a:endParaRPr>
          </a:p>
          <a:p>
            <a:endParaRPr lang="pt-BR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Metodologia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601" y="2563944"/>
            <a:ext cx="3730871" cy="3683358"/>
          </a:xfrm>
        </p:spPr>
        <p:txBody>
          <a:bodyPr anchor="ctr">
            <a:noAutofit/>
          </a:bodyPr>
          <a:lstStyle/>
          <a:p>
            <a:r>
              <a:rPr lang="pt-BR" sz="2400" dirty="0"/>
              <a:t>Preparação dos dados </a:t>
            </a:r>
          </a:p>
          <a:p>
            <a:endParaRPr lang="pt-BR" sz="2400" dirty="0"/>
          </a:p>
          <a:p>
            <a:r>
              <a:rPr lang="pt-BR" sz="2400" dirty="0"/>
              <a:t>Criação de identificador </a:t>
            </a:r>
          </a:p>
          <a:p>
            <a:endParaRPr lang="pt-BR" sz="2400" dirty="0"/>
          </a:p>
          <a:p>
            <a:r>
              <a:rPr lang="pt-BR" sz="2400" dirty="0"/>
              <a:t>Modelo Supervisionado </a:t>
            </a:r>
          </a:p>
          <a:p>
            <a:endParaRPr lang="pt-BR" sz="2400" dirty="0"/>
          </a:p>
          <a:p>
            <a:r>
              <a:rPr lang="pt-BR" sz="2400" dirty="0"/>
              <a:t>Simulação com LLM </a:t>
            </a:r>
          </a:p>
          <a:p>
            <a:endParaRPr lang="pt-BR" sz="2400" dirty="0"/>
          </a:p>
          <a:p>
            <a:r>
              <a:rPr lang="pt-BR" sz="2400" dirty="0"/>
              <a:t>Validação cruzada </a:t>
            </a:r>
            <a:endParaRPr lang="pt-BR" sz="2400" dirty="0">
              <a:solidFill>
                <a:srgbClr val="FF0000"/>
              </a:solidFill>
            </a:endParaRPr>
          </a:p>
          <a:p>
            <a:endParaRPr lang="pt-BR" sz="2400" dirty="0">
              <a:solidFill>
                <a:srgbClr val="FF0000"/>
              </a:solidFill>
            </a:endParaRPr>
          </a:p>
          <a:p>
            <a:endParaRPr lang="pt-BR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Modelos Supervisionados Testados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489" y="4707933"/>
            <a:ext cx="7293023" cy="901755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pt-BR" sz="2400" dirty="0"/>
              <a:t>Modelo escolhido: </a:t>
            </a:r>
            <a:r>
              <a:rPr lang="pt-BR" sz="2400" b="1" dirty="0"/>
              <a:t>Random Forest</a:t>
            </a:r>
            <a:endParaRPr lang="pt-BR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99B4BF4-03B5-D0FF-5715-AF89CF5E0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192320"/>
              </p:ext>
            </p:extLst>
          </p:nvPr>
        </p:nvGraphicFramePr>
        <p:xfrm>
          <a:off x="1254088" y="2693988"/>
          <a:ext cx="6971183" cy="1828800"/>
        </p:xfrm>
        <a:graphic>
          <a:graphicData uri="http://schemas.openxmlformats.org/drawingml/2006/table">
            <a:tbl>
              <a:tblPr firstRow="1" firstCol="1">
                <a:tableStyleId>{3C2FFA5D-87B4-456A-9821-1D502468CF0F}</a:tableStyleId>
              </a:tblPr>
              <a:tblGrid>
                <a:gridCol w="466447">
                  <a:extLst>
                    <a:ext uri="{9D8B030D-6E8A-4147-A177-3AD203B41FA5}">
                      <a16:colId xmlns:a16="http://schemas.microsoft.com/office/drawing/2014/main" val="790591381"/>
                    </a:ext>
                  </a:extLst>
                </a:gridCol>
                <a:gridCol w="4181008">
                  <a:extLst>
                    <a:ext uri="{9D8B030D-6E8A-4147-A177-3AD203B41FA5}">
                      <a16:colId xmlns:a16="http://schemas.microsoft.com/office/drawing/2014/main" val="3891767511"/>
                    </a:ext>
                  </a:extLst>
                </a:gridCol>
                <a:gridCol w="2323728">
                  <a:extLst>
                    <a:ext uri="{9D8B030D-6E8A-4147-A177-3AD203B41FA5}">
                      <a16:colId xmlns:a16="http://schemas.microsoft.com/office/drawing/2014/main" val="2762420945"/>
                    </a:ext>
                  </a:extLst>
                </a:gridCol>
              </a:tblGrid>
              <a:tr h="330512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pt-BR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b="1" dirty="0">
                          <a:effectLst/>
                        </a:rPr>
                        <a:t>Modelo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b="1" dirty="0">
                          <a:effectLst/>
                        </a:rPr>
                        <a:t>Acurácia Média (CV)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7570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b="1" dirty="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dirty="0">
                          <a:effectLst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>
                          <a:effectLst/>
                        </a:rPr>
                        <a:t>39,8%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47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b="1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dirty="0">
                          <a:effectLst/>
                        </a:rPr>
                        <a:t>Neural Network (MLP)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effectLst/>
                        </a:rPr>
                        <a:t>37,6%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292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b="1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dirty="0" err="1">
                          <a:effectLst/>
                        </a:rPr>
                        <a:t>Gradient</a:t>
                      </a:r>
                      <a:r>
                        <a:rPr lang="pt-BR" dirty="0">
                          <a:effectLst/>
                        </a:rPr>
                        <a:t> </a:t>
                      </a:r>
                      <a:r>
                        <a:rPr lang="pt-BR" dirty="0" err="1">
                          <a:effectLst/>
                        </a:rPr>
                        <a:t>Boosting</a:t>
                      </a:r>
                      <a:r>
                        <a:rPr lang="pt-BR" dirty="0">
                          <a:effectLst/>
                        </a:rPr>
                        <a:t> Machine (GBM)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effectLst/>
                        </a:rPr>
                        <a:t>33,9%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431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b="1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pt-BR" dirty="0" err="1">
                          <a:effectLst/>
                        </a:rPr>
                        <a:t>K-Nearest</a:t>
                      </a:r>
                      <a:r>
                        <a:rPr lang="pt-BR" dirty="0">
                          <a:effectLst/>
                        </a:rPr>
                        <a:t> </a:t>
                      </a:r>
                      <a:r>
                        <a:rPr lang="pt-BR" dirty="0" err="1">
                          <a:effectLst/>
                        </a:rPr>
                        <a:t>Neighbors</a:t>
                      </a:r>
                      <a:r>
                        <a:rPr lang="pt-BR" dirty="0">
                          <a:effectLst/>
                        </a:rPr>
                        <a:t> (KNN)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>
                          <a:effectLst/>
                        </a:rPr>
                        <a:t>32,5%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34945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53CD6C-7A72-880E-3227-ED0976C3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Modelo Supervisionado </a:t>
            </a:r>
            <a:r>
              <a:rPr lang="pt-BR" sz="3500" dirty="0" err="1">
                <a:solidFill>
                  <a:srgbClr val="FFFFFF"/>
                </a:solidFill>
              </a:rPr>
              <a:t>x</a:t>
            </a:r>
            <a:r>
              <a:rPr lang="pt-BR" sz="3500" dirty="0">
                <a:solidFill>
                  <a:srgbClr val="FFFFFF"/>
                </a:solidFill>
              </a:rPr>
              <a:t> LLM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0307A41E-680E-4C50-28E5-8177FA0319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8053996"/>
              </p:ext>
            </p:extLst>
          </p:nvPr>
        </p:nvGraphicFramePr>
        <p:xfrm>
          <a:off x="832875" y="2329970"/>
          <a:ext cx="7478251" cy="3518208"/>
        </p:xfrm>
        <a:graphic>
          <a:graphicData uri="http://schemas.openxmlformats.org/drawingml/2006/table">
            <a:tbl>
              <a:tblPr firstRow="1" firstCol="1">
                <a:tableStyleId>{3C2FFA5D-87B4-456A-9821-1D502468CF0F}</a:tableStyleId>
              </a:tblPr>
              <a:tblGrid>
                <a:gridCol w="488733">
                  <a:extLst>
                    <a:ext uri="{9D8B030D-6E8A-4147-A177-3AD203B41FA5}">
                      <a16:colId xmlns:a16="http://schemas.microsoft.com/office/drawing/2014/main" val="3166758501"/>
                    </a:ext>
                  </a:extLst>
                </a:gridCol>
                <a:gridCol w="1839310">
                  <a:extLst>
                    <a:ext uri="{9D8B030D-6E8A-4147-A177-3AD203B41FA5}">
                      <a16:colId xmlns:a16="http://schemas.microsoft.com/office/drawing/2014/main" val="2278110918"/>
                    </a:ext>
                  </a:extLst>
                </a:gridCol>
                <a:gridCol w="2575174">
                  <a:extLst>
                    <a:ext uri="{9D8B030D-6E8A-4147-A177-3AD203B41FA5}">
                      <a16:colId xmlns:a16="http://schemas.microsoft.com/office/drawing/2014/main" val="2488169601"/>
                    </a:ext>
                  </a:extLst>
                </a:gridCol>
                <a:gridCol w="2575034">
                  <a:extLst>
                    <a:ext uri="{9D8B030D-6E8A-4147-A177-3AD203B41FA5}">
                      <a16:colId xmlns:a16="http://schemas.microsoft.com/office/drawing/2014/main" val="2586102352"/>
                    </a:ext>
                  </a:extLst>
                </a:gridCol>
              </a:tblGrid>
              <a:tr h="86793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u="none" strike="noStrike" kern="1200" dirty="0">
                          <a:solidFill>
                            <a:schemeClr val="lt1"/>
                          </a:solidFill>
                          <a:effectLst/>
                        </a:rPr>
                        <a:t>Random Forest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u="none" strike="noStrike" kern="1200" dirty="0">
                          <a:solidFill>
                            <a:schemeClr val="lt1"/>
                          </a:solidFill>
                          <a:effectLst/>
                        </a:rPr>
                        <a:t>LLM - ChatGPT 5.3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3124853"/>
                  </a:ext>
                </a:extLst>
              </a:tr>
              <a:tr h="867936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Filosofia Central</a:t>
                      </a:r>
                      <a:endParaRPr lang="pt-BR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Busca correlações matemáticas invisíveis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Constrói uma identidade narrativa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1831284"/>
                  </a:ext>
                </a:extLst>
              </a:tr>
              <a:tr h="867936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Abordagem aos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Processamento de variáveis rígidas e tabulares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kern="1200" dirty="0">
                          <a:solidFill>
                            <a:schemeClr val="dk1"/>
                          </a:solidFill>
                          <a:effectLst/>
                        </a:rPr>
                        <a:t>Silicon </a:t>
                      </a:r>
                      <a:r>
                        <a:rPr lang="pt-BR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Sampling</a:t>
                      </a:r>
                      <a:r>
                        <a:rPr lang="pt-BR" sz="1800" b="0" kern="1200" dirty="0">
                          <a:solidFill>
                            <a:schemeClr val="dk1"/>
                          </a:solidFill>
                          <a:effectLst/>
                        </a:rPr>
                        <a:t> e inferência Zero-Shot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9063423"/>
                  </a:ext>
                </a:extLst>
              </a:tr>
              <a:tr h="867936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Métrica Principal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Acurácia Ponto a Ponto (Indivíduo)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Distância de Jensen-Shannon (Coletivo)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8909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145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Métricas de Avaliação</a:t>
            </a:r>
          </a:p>
        </p:txBody>
      </p:sp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id="{69CBFB07-B94F-9097-CD98-0F8CBA3AB7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3073689"/>
              </p:ext>
            </p:extLst>
          </p:nvPr>
        </p:nvGraphicFramePr>
        <p:xfrm>
          <a:off x="1247773" y="1971378"/>
          <a:ext cx="6648450" cy="378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CaixaDeTexto 20">
            <a:extLst>
              <a:ext uri="{FF2B5EF4-FFF2-40B4-BE49-F238E27FC236}">
                <a16:creationId xmlns:a16="http://schemas.microsoft.com/office/drawing/2014/main" id="{D03AA16D-24E0-B196-E81A-75A6EE8767B1}"/>
              </a:ext>
            </a:extLst>
          </p:cNvPr>
          <p:cNvSpPr txBox="1"/>
          <p:nvPr/>
        </p:nvSpPr>
        <p:spPr>
          <a:xfrm>
            <a:off x="451945" y="5699711"/>
            <a:ext cx="82401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200" dirty="0"/>
              <a:t>Quando o objetivo é acertar o alvo exato de um único indivíduo, a otimização matemática do modelo supervisionado é insuperável.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Resultados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1CA141-0CC8-7D29-F902-75ADA0B01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668" y="1813373"/>
            <a:ext cx="8276664" cy="386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DBC54687-15CA-9CD6-16CD-DE3692ABB43E}"/>
              </a:ext>
            </a:extLst>
          </p:cNvPr>
          <p:cNvSpPr txBox="1"/>
          <p:nvPr/>
        </p:nvSpPr>
        <p:spPr>
          <a:xfrm>
            <a:off x="339399" y="5866121"/>
            <a:ext cx="846520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1400" dirty="0"/>
              <a:t>Distância de Jensen-Shannon (JSD) entre Resposta Real e Modelo Supervisionado: 0.2831 </a:t>
            </a:r>
          </a:p>
          <a:p>
            <a:r>
              <a:rPr lang="pt-BR" altLang="pt-BR" sz="1400" dirty="0"/>
              <a:t>Distância de Jensen-Shannon (JSD) entre Resposta Real e LLM: 0.2796 </a:t>
            </a:r>
          </a:p>
          <a:p>
            <a:r>
              <a:rPr lang="pt-BR" altLang="pt-BR" sz="1400" dirty="0"/>
              <a:t>Distância de Jensen-Shannon (JSD) entre Modelo Supervisionado e LLM: 0.3409</a:t>
            </a:r>
            <a:endParaRPr lang="pt-BR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B9C0FD-0075-9A91-466B-54CC82FE2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860E25-9941-E2CD-E8A0-3E681BE1D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>
                <a:solidFill>
                  <a:srgbClr val="FFFFFF"/>
                </a:solidFill>
              </a:rPr>
              <a:t>Conclusão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3C788C56-A7F7-A1FA-BFEC-DEE05CE1F2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330037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8480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0CB40-B574-F671-0E9E-F9909DD99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pt-BR" sz="6600" dirty="0"/>
              <a:t>Muito Obrigado!</a:t>
            </a:r>
          </a:p>
        </p:txBody>
      </p:sp>
    </p:spTree>
    <p:extLst>
      <p:ext uri="{BB962C8B-B14F-4D97-AF65-F5344CB8AC3E}">
        <p14:creationId xmlns:p14="http://schemas.microsoft.com/office/powerpoint/2010/main" val="4060134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7E10842-0F12-3145-8596-61B7CB5CF2C1}">
  <we:reference id="78f4d70e-fb8b-4f8d-b284-0a2e60aeef37" version="4.1.2.1" store="EXCatalog" storeType="EXCatalog"/>
  <we:alternateReferences>
    <we:reference id="WA104380955" version="4.1.2.1" store="pt-BR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2699</TotalTime>
  <Words>567</Words>
  <Application>Microsoft Macintosh PowerPoint</Application>
  <PresentationFormat>Apresentação na tela (4:3)</PresentationFormat>
  <Paragraphs>87</Paragraphs>
  <Slides>10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Simulação de Opinião Pública </vt:lpstr>
      <vt:lpstr>Objetivo</vt:lpstr>
      <vt:lpstr>Base de Dados</vt:lpstr>
      <vt:lpstr>Metodologia</vt:lpstr>
      <vt:lpstr>Modelos Supervisionados Testados</vt:lpstr>
      <vt:lpstr>Modelo Supervisionado x LLM</vt:lpstr>
      <vt:lpstr>Métricas de Avaliação</vt:lpstr>
      <vt:lpstr>Resultados</vt:lpstr>
      <vt:lpstr>Conclusão</vt:lpstr>
      <vt:lpstr>Muito Obrigado!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 BEATRIZ ROCHA RIBEIRO</cp:lastModifiedBy>
  <cp:revision>9</cp:revision>
  <cp:lastPrinted>2026-04-17T15:00:43Z</cp:lastPrinted>
  <dcterms:created xsi:type="dcterms:W3CDTF">2013-01-27T09:14:16Z</dcterms:created>
  <dcterms:modified xsi:type="dcterms:W3CDTF">2026-04-22T19:10:57Z</dcterms:modified>
  <cp:category/>
</cp:coreProperties>
</file>